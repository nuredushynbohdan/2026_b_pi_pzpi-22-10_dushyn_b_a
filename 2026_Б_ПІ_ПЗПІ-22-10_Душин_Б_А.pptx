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3" r:id="rId7"/>
    <p:sldId id="273" r:id="rId8"/>
    <p:sldId id="267" r:id="rId9"/>
    <p:sldId id="264" r:id="rId10"/>
    <p:sldId id="268" r:id="rId11"/>
    <p:sldId id="266" r:id="rId12"/>
    <p:sldId id="269" r:id="rId13"/>
    <p:sldId id="265" r:id="rId14"/>
    <p:sldId id="270" r:id="rId15"/>
    <p:sldId id="275" r:id="rId16"/>
    <p:sldId id="276" r:id="rId17"/>
    <p:sldId id="27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A26"/>
    <a:srgbClr val="161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9" autoAdjust="0"/>
    <p:restoredTop sz="94633" autoAdjust="0"/>
  </p:normalViewPr>
  <p:slideViewPr>
    <p:cSldViewPr snapToGrid="0" snapToObjects="1">
      <p:cViewPr>
        <p:scale>
          <a:sx n="100" d="100"/>
          <a:sy n="100" d="100"/>
        </p:scale>
        <p:origin x="91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Власник рухається</c:v>
                </c:pt>
              </c:strCache>
            </c:strRef>
          </c:tx>
          <c:spPr>
            <a:ln w="38100" cap="flat">
              <a:solidFill>
                <a:srgbClr val="6B2E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2EFF"/>
              </a:solidFill>
              <a:ln w="9525" cap="flat">
                <a:solidFill>
                  <a:srgbClr val="6B2EF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8.0600000000000005E-2</c:v>
                </c:pt>
                <c:pt idx="1">
                  <c:v>2.0695000000000001</c:v>
                </c:pt>
                <c:pt idx="2">
                  <c:v>3.2233000000000001</c:v>
                </c:pt>
                <c:pt idx="3">
                  <c:v>6.6458000000000004</c:v>
                </c:pt>
                <c:pt idx="4">
                  <c:v>9.2850999999999999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20-409C-8466-5927FC2EFD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Власник статичний</c:v>
                </c:pt>
              </c:strCache>
            </c:strRef>
          </c:tx>
          <c:spPr>
            <a:ln w="38100" cap="flat">
              <a:solidFill>
                <a:schemeClr val="tx1">
                  <a:lumMod val="85000"/>
                  <a:lumOff val="15000"/>
                </a:schemeClr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tx1">
                  <a:lumMod val="95000"/>
                  <a:lumOff val="5000"/>
                </a:schemeClr>
              </a:solidFill>
              <a:ln w="9525" cap="flat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6.5500000000000003E-2</c:v>
                </c:pt>
                <c:pt idx="1">
                  <c:v>0.93669999999999998</c:v>
                </c:pt>
                <c:pt idx="2">
                  <c:v>1.6329</c:v>
                </c:pt>
                <c:pt idx="3">
                  <c:v>2.8717000000000001</c:v>
                </c:pt>
                <c:pt idx="4">
                  <c:v>4.2099000000000002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20-409C-8466-5927FC2EFD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uk-UA" b="0" i="0" u="none" strike="noStrike">
                    <a:solidFill>
                      <a:srgbClr val="000000"/>
                    </a:solidFill>
                    <a:latin typeface="Arial"/>
                  </a:rPr>
                  <a:t>Кількість джерел світла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5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0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uk-UA" b="0" i="0" u="none" strike="noStrike">
                    <a:solidFill>
                      <a:srgbClr val="000000"/>
                    </a:solidFill>
                    <a:latin typeface="Arial"/>
                  </a:rPr>
                  <a:t>Час, мс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5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Кількість дефектів</c:v>
                </c:pt>
              </c:strCache>
            </c:strRef>
          </c:tx>
          <c:spPr>
            <a:solidFill>
              <a:srgbClr val="6B2E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622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Shadow
System</c:v>
                </c:pt>
                <c:pt idx="1">
                  <c:v>AI
Component</c:v>
                </c:pt>
                <c:pt idx="2">
                  <c:v>Shadow Trap
/ Skills</c:v>
                </c:pt>
                <c:pt idx="3">
                  <c:v>Інше
(UI, Anim, PC)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81-46E9-8B33-26BC33D829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5"/>
                </a:solidFill>
                <a:latin typeface="Arial"/>
              </a:defRPr>
            </a:pPr>
            <a:endParaRPr lang="de-D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75"/>
                </a:solidFill>
                <a:latin typeface="Arial"/>
              </a:defRPr>
            </a:pPr>
            <a:endParaRPr lang="de-DE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511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07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15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9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3D1A6E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548640"/>
            <a:ext cx="3840480" cy="3840480"/>
          </a:xfrm>
          <a:prstGeom prst="ellipse">
            <a:avLst/>
          </a:prstGeom>
          <a:solidFill>
            <a:srgbClr val="1E1A26"/>
          </a:solidFill>
          <a:ln/>
        </p:spPr>
      </p:sp>
      <p:sp>
        <p:nvSpPr>
          <p:cNvPr id="5" name="Shape 3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1E1A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РОБОТА БАКАЛАВРА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572768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Phantom Shade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50" i="1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Ігрове програмне забезпечення в жанрі Stealth Adventure</a:t>
            </a:r>
            <a:endParaRPr lang="en-US" sz="16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50" i="1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рушії Unreal Engine 5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8595360" cy="0"/>
          </a:xfrm>
          <a:prstGeom prst="line">
            <a:avLst/>
          </a:prstGeom>
          <a:noFill/>
          <a:ln w="12700">
            <a:solidFill>
              <a:srgbClr val="5C4B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ВИКОНАВЕЦЬ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1239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Душин Б. А., ПЗПІ-22-10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88620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412394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5.6</a:t>
            </a:r>
            <a:r>
              <a:rPr lang="uk-UA" sz="12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C++</a:t>
            </a:r>
            <a:r>
              <a:rPr lang="uk-UA" sz="12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Blueprints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412394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викл. кафедри ПІ Новіков Ю. С.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46920" y="1965960"/>
            <a:ext cx="1371600" cy="1371600"/>
          </a:xfrm>
          <a:prstGeom prst="ellipse">
            <a:avLst/>
          </a:prstGeom>
          <a:solidFill>
            <a:srgbClr val="7030A0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530" y="2274570"/>
            <a:ext cx="754380" cy="7543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1008461" y="2926080"/>
            <a:ext cx="822960" cy="822960"/>
          </a:xfrm>
          <a:prstGeom prst="ellipse">
            <a:avLst/>
          </a:prstGeom>
          <a:solidFill>
            <a:srgbClr val="7030A0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3627" y="3111246"/>
            <a:ext cx="452628" cy="45262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144000" y="3611880"/>
            <a:ext cx="777240" cy="777240"/>
          </a:xfrm>
          <a:prstGeom prst="ellipse">
            <a:avLst/>
          </a:prstGeom>
          <a:solidFill>
            <a:srgbClr val="7030A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310" y="3806190"/>
            <a:ext cx="38862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7"/>
          <p:cNvSpPr/>
          <p:nvPr/>
        </p:nvSpPr>
        <p:spPr>
          <a:xfrm>
            <a:off x="5989320" y="1188720"/>
            <a:ext cx="5669280" cy="5074920"/>
          </a:xfrm>
          <a:prstGeom prst="roundRect">
            <a:avLst>
              <a:gd name="adj" fmla="val 1441"/>
            </a:avLst>
          </a:prstGeom>
          <a:solidFill>
            <a:srgbClr val="16131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8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 роботи</a:t>
            </a:r>
            <a:endParaRPr lang="uk-UA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uk-UA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ігрове ПЗ в жанрі </a:t>
            </a:r>
            <a:r>
              <a:rPr lang="uk-UA" sz="1400" dirty="0" err="1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</a:t>
            </a:r>
            <a:r>
              <a:rPr lang="uk-UA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400" dirty="0" err="1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r>
              <a:rPr lang="uk-UA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</a:t>
            </a:r>
            <a:r>
              <a:rPr lang="uk-UA" sz="1400" dirty="0" err="1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</a:t>
            </a:r>
            <a:r>
              <a:rPr lang="uk-UA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400" dirty="0" err="1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r>
              <a:rPr lang="uk-UA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 де взаємодія з тінями формує основу ігрового процесу, та оптимізувати систему для використання в реальній грі.</a:t>
            </a:r>
            <a:endParaRPr lang="uk-UA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8437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0744" y="2794085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b="1" dirty="0" err="1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Обгрунтування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159845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uk-UA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сучасних іграх активно розвивається графіка, AI та процедурна генерація, але новаторство в базових механіках сповільнилось. Тінь у більшості </a:t>
            </a:r>
            <a:r>
              <a:rPr lang="uk-UA" sz="1400" dirty="0" err="1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</a:t>
            </a:r>
            <a:r>
              <a:rPr lang="uk-UA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-ігор — лише статична зона укриття.</a:t>
            </a:r>
            <a:endParaRPr lang="uk-UA" sz="1400" dirty="0"/>
          </a:p>
        </p:txBody>
      </p:sp>
      <p:sp>
        <p:nvSpPr>
          <p:cNvPr id="11" name="Text 8"/>
          <p:cNvSpPr/>
          <p:nvPr/>
        </p:nvSpPr>
        <p:spPr>
          <a:xfrm>
            <a:off x="635508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МОЖЛИВОСТ</a:t>
            </a:r>
            <a:r>
              <a:rPr lang="uk-UA" sz="1100" b="1" kern="0" spc="150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ДЛЯ РЕАЛІЗАЦІЇ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18120" y="2052828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6B2EFF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205282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Взаємодія з тінями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0" y="3159845"/>
            <a:ext cx="4290060" cy="621792"/>
          </a:xfrm>
          <a:prstGeom prst="roundRect">
            <a:avLst>
              <a:gd name="adj" fmla="val 11765"/>
            </a:avLst>
          </a:prstGeom>
          <a:solidFill>
            <a:srgbClr val="1E1A26"/>
          </a:solidFill>
          <a:ln/>
        </p:spPr>
      </p:sp>
      <p:sp>
        <p:nvSpPr>
          <p:cNvPr id="15" name="Shape 12"/>
          <p:cNvSpPr/>
          <p:nvPr/>
        </p:nvSpPr>
        <p:spPr>
          <a:xfrm>
            <a:off x="6693408" y="3425021"/>
            <a:ext cx="91440" cy="9144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3159845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Зчитування перетинання з тінями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0" y="4001093"/>
            <a:ext cx="4290060" cy="621792"/>
          </a:xfrm>
          <a:prstGeom prst="roundRect">
            <a:avLst>
              <a:gd name="adj" fmla="val 11765"/>
            </a:avLst>
          </a:prstGeom>
          <a:solidFill>
            <a:srgbClr val="1E1A26"/>
          </a:solidFill>
          <a:ln/>
        </p:spPr>
      </p:sp>
      <p:sp>
        <p:nvSpPr>
          <p:cNvPr id="18" name="Shape 15"/>
          <p:cNvSpPr/>
          <p:nvPr/>
        </p:nvSpPr>
        <p:spPr>
          <a:xfrm>
            <a:off x="6693408" y="4266269"/>
            <a:ext cx="91440" cy="9144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4001093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Виявлення рівня освітлення від динамічних джерел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0" y="4842341"/>
            <a:ext cx="4290060" cy="621792"/>
          </a:xfrm>
          <a:prstGeom prst="roundRect">
            <a:avLst>
              <a:gd name="adj" fmla="val 11765"/>
            </a:avLst>
          </a:prstGeom>
          <a:solidFill>
            <a:srgbClr val="1E1A26"/>
          </a:solidFill>
          <a:ln/>
        </p:spPr>
      </p:sp>
      <p:sp>
        <p:nvSpPr>
          <p:cNvPr id="21" name="Shape 18"/>
          <p:cNvSpPr/>
          <p:nvPr/>
        </p:nvSpPr>
        <p:spPr>
          <a:xfrm>
            <a:off x="6693408" y="5107517"/>
            <a:ext cx="91440" cy="9144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22" name="Text 19"/>
          <p:cNvSpPr/>
          <p:nvPr/>
        </p:nvSpPr>
        <p:spPr>
          <a:xfrm>
            <a:off x="7040880" y="4842341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Візуальне підкреслення тіньових зон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Жанрові характеристики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1E1A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3D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2240280" cy="0"/>
          </a:xfrm>
          <a:prstGeom prst="line">
            <a:avLst/>
          </a:prstGeom>
          <a:noFill/>
          <a:ln w="12700">
            <a:solidFill>
              <a:srgbClr val="5C4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Пріоритет непомітності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Бій навмисно невигідний — цінність прихованого проходження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6432" y="141732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1E1A26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3D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685032" y="2468880"/>
            <a:ext cx="2240280" cy="0"/>
          </a:xfrm>
          <a:prstGeom prst="line">
            <a:avLst/>
          </a:prstGeom>
          <a:noFill/>
          <a:ln w="12700">
            <a:solidFill>
              <a:srgbClr val="5C4B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Інформаційна асиметрія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85032" y="35661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Гравець бачить більше про AI, ніж AI про гравця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18504" y="141732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1E1A26"/>
          </a:solidFill>
          <a:ln/>
        </p:spPr>
      </p:sp>
      <p:sp>
        <p:nvSpPr>
          <p:cNvPr id="15" name="Text 13"/>
          <p:cNvSpPr/>
          <p:nvPr/>
        </p:nvSpPr>
        <p:spPr>
          <a:xfrm>
            <a:off x="6547104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3D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547104" y="2468880"/>
            <a:ext cx="2240280" cy="0"/>
          </a:xfrm>
          <a:prstGeom prst="line">
            <a:avLst/>
          </a:prstGeom>
          <a:noFill/>
          <a:ln w="12700">
            <a:solidFill>
              <a:srgbClr val="5C4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Варіативність проходження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47104" y="35661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Мікро- та макрорівень рішень, хоча часто ілюзорний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0576" y="1417320"/>
            <a:ext cx="2697480" cy="4297680"/>
          </a:xfrm>
          <a:prstGeom prst="roundRect">
            <a:avLst>
              <a:gd name="adj" fmla="val 2712"/>
            </a:avLst>
          </a:prstGeom>
          <a:solidFill>
            <a:srgbClr val="6B2EFF"/>
          </a:solidFill>
          <a:ln/>
        </p:spPr>
      </p:sp>
      <p:sp>
        <p:nvSpPr>
          <p:cNvPr id="20" name="Text 18"/>
          <p:cNvSpPr/>
          <p:nvPr/>
        </p:nvSpPr>
        <p:spPr>
          <a:xfrm>
            <a:off x="9409176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9409176" y="2468880"/>
            <a:ext cx="2240280" cy="0"/>
          </a:xfrm>
          <a:prstGeom prst="line">
            <a:avLst/>
          </a:prstGeom>
          <a:noFill/>
          <a:ln w="12700">
            <a:solidFill>
              <a:srgbClr val="9D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9176" y="26060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Освітлення та тіні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09176" y="3566160"/>
            <a:ext cx="2240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Найвпізнаваніша, але найменш системно розвинена механіка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19" y="530352"/>
            <a:ext cx="10972451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Аналіз конкурентів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3D1A6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325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 СТОРОНА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1325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СИСТЕМНЕ ОБМЕЖЕННЯ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11201400" cy="713232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Hitman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1892808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Соціальне маскування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1892808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Освітлення майже не впливає на геймплей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112014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0604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Splinter Cell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260604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Взаємодія зі світлом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2606040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Тіні статично прив'язані до джерел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19272"/>
            <a:ext cx="11201400" cy="713232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19272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 Gear Solid 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31927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Динамічне середовище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331927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Освітлення впливає лише на глобальному рівні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032504"/>
            <a:ext cx="112014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32504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Dishonored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403250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Нелінійність рівнів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4032504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Надприродні здібності спрощують stealth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745736"/>
            <a:ext cx="11201400" cy="713232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745736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Thief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474573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Атмосфера тіней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745736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Консервативні, повільні механіки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5152644" cy="1463040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572768"/>
            <a:ext cx="457200" cy="45720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" y="164592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4381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4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" y="1874520"/>
            <a:ext cx="46497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Статичність світлотіньової системи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07532" y="1885035"/>
            <a:ext cx="493776" cy="493776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632" y="1996135"/>
            <a:ext cx="271577" cy="2715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59271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2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103620" y="1874520"/>
            <a:ext cx="52806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Динамічна система: кожне джерело світла — інтерактивний об'єкт, тінь оновлюється миттєво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2980944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2980944"/>
            <a:ext cx="5152644" cy="1463040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16" name="Shape 12"/>
          <p:cNvSpPr/>
          <p:nvPr/>
        </p:nvSpPr>
        <p:spPr>
          <a:xfrm>
            <a:off x="758952" y="3182112"/>
            <a:ext cx="457200" cy="45720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" y="3255264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24381" y="32552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4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58952" y="3483864"/>
            <a:ext cx="46497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Слабка інтеграція виявлення із середовищем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07532" y="3494379"/>
            <a:ext cx="493776" cy="493776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632" y="3605479"/>
            <a:ext cx="271577" cy="27157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59271" y="32552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B2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103620" y="3483864"/>
            <a:ext cx="52806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Конус зору NPC обчислюється в реальному часі залежно від освітлення ділянки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2920" y="4590288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02920" y="4590288"/>
            <a:ext cx="5152644" cy="1463040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26" name="Shape 20"/>
          <p:cNvSpPr/>
          <p:nvPr/>
        </p:nvSpPr>
        <p:spPr>
          <a:xfrm>
            <a:off x="758952" y="4791456"/>
            <a:ext cx="457200" cy="45720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" y="4864608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24381" y="4864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4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58952" y="5093208"/>
            <a:ext cx="46497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Відсутність зворотного зв'язку гравцю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07532" y="5103723"/>
            <a:ext cx="493776" cy="493776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632" y="5214823"/>
            <a:ext cx="271577" cy="27157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59271" y="4864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2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103620" y="5093208"/>
            <a:ext cx="52806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Прозора система індикації рівня видимості та придатних для взаємодії тіней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 та формування вимог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2064" y="1458677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14709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815293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7190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Головний герой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04672" y="2400509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2235847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Вільне пересування в площині землі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" y="2821133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12" name="Text 9"/>
          <p:cNvSpPr/>
          <p:nvPr/>
        </p:nvSpPr>
        <p:spPr>
          <a:xfrm>
            <a:off x="987552" y="2656471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видимої для NPC тіні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" y="3241757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14" name="Text 11"/>
          <p:cNvSpPr/>
          <p:nvPr/>
        </p:nvSpPr>
        <p:spPr>
          <a:xfrm>
            <a:off x="987552" y="3077095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шуму для відволікання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35624" y="1485969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9944" y="1714709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815293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13448" y="17190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Інтерактивні тіні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428232" y="2400509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20" name="Text 16"/>
          <p:cNvSpPr/>
          <p:nvPr/>
        </p:nvSpPr>
        <p:spPr>
          <a:xfrm>
            <a:off x="6611112" y="2235847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Зчитування перетинання з об'єктами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428232" y="2821133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22" name="Text 18"/>
          <p:cNvSpPr/>
          <p:nvPr/>
        </p:nvSpPr>
        <p:spPr>
          <a:xfrm>
            <a:off x="6611112" y="2656471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у багатопотоковому режимі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428232" y="3241757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24" name="Text 20"/>
          <p:cNvSpPr/>
          <p:nvPr/>
        </p:nvSpPr>
        <p:spPr>
          <a:xfrm>
            <a:off x="6611112" y="3077095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Визначення рівня освітлення гравця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02920" y="42062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86384" y="4092149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192733"/>
            <a:ext cx="301752" cy="30175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89888" y="40965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Логіка NPC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04672" y="4777949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30" name="Text 25"/>
          <p:cNvSpPr/>
          <p:nvPr/>
        </p:nvSpPr>
        <p:spPr>
          <a:xfrm>
            <a:off x="987552" y="4613287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має бачити тінь гравця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04672" y="5198573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32" name="Text 27"/>
          <p:cNvSpPr/>
          <p:nvPr/>
        </p:nvSpPr>
        <p:spPr>
          <a:xfrm>
            <a:off x="987552" y="5033911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Гнучка система патрулювання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04672" y="5619197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34" name="Text 29"/>
          <p:cNvSpPr/>
          <p:nvPr/>
        </p:nvSpPr>
        <p:spPr>
          <a:xfrm>
            <a:off x="987552" y="5454535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Зміна реакції залежно від зони видимості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6126480" y="42062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409944" y="4092149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192733"/>
            <a:ext cx="301752" cy="30175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013448" y="40965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Ігрові рівні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6428232" y="4777949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40" name="Text 34"/>
          <p:cNvSpPr/>
          <p:nvPr/>
        </p:nvSpPr>
        <p:spPr>
          <a:xfrm>
            <a:off x="6611112" y="4613287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Простір для варіативних маршрутів NPC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6428232" y="5198573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42" name="Text 36"/>
          <p:cNvSpPr/>
          <p:nvPr/>
        </p:nvSpPr>
        <p:spPr>
          <a:xfrm>
            <a:off x="6611112" y="5033911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Зони з варіативними зонами видимості</a:t>
            </a:r>
            <a:endParaRPr lang="en-US" sz="1400" dirty="0"/>
          </a:p>
        </p:txBody>
      </p:sp>
      <p:sp>
        <p:nvSpPr>
          <p:cNvPr id="43" name="Shape 37"/>
          <p:cNvSpPr/>
          <p:nvPr/>
        </p:nvSpPr>
        <p:spPr>
          <a:xfrm>
            <a:off x="6428232" y="5619197"/>
            <a:ext cx="64008" cy="64008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44" name="Text 38"/>
          <p:cNvSpPr/>
          <p:nvPr/>
        </p:nvSpPr>
        <p:spPr>
          <a:xfrm>
            <a:off x="6611112" y="5454535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Зони, що заохочують використання вмінь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0960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220361" y="1626087"/>
            <a:ext cx="2565638" cy="2133600"/>
          </a:xfrm>
          <a:prstGeom prst="roundRect">
            <a:avLst>
              <a:gd name="adj" fmla="val 5714"/>
            </a:avLst>
          </a:prstGeom>
          <a:solidFill>
            <a:srgbClr val="6B2EEF"/>
          </a:solidFill>
          <a:ln w="19050">
            <a:solidFill>
              <a:srgbClr val="6B2EEF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30348" y="1861504"/>
            <a:ext cx="643762" cy="670560"/>
          </a:xfrm>
          <a:prstGeom prst="ellipse">
            <a:avLst/>
          </a:prstGeom>
          <a:solidFill>
            <a:srgbClr val="5A20D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169" y="1959548"/>
            <a:ext cx="468190" cy="48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42285" y="1869927"/>
            <a:ext cx="16690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67" dirty="0">
                <a:solidFill>
                  <a:srgbClr val="D4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ІГРОВИЙ</a:t>
            </a:r>
            <a:r>
              <a:rPr lang="en-US" sz="1100" b="1" kern="0" spc="267" dirty="0">
                <a:solidFill>
                  <a:srgbClr val="D4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РУШІЙ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42285" y="2150343"/>
            <a:ext cx="166901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2439817" y="2723367"/>
            <a:ext cx="2285301" cy="0"/>
          </a:xfrm>
          <a:prstGeom prst="line">
            <a:avLst/>
          </a:prstGeom>
          <a:noFill/>
          <a:ln w="12700">
            <a:solidFill>
              <a:srgbClr val="7B40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39817" y="2743687"/>
            <a:ext cx="21739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8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 платформа розробки. Lumen, Nanite, Behavior Tree.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17374" y="1618977"/>
            <a:ext cx="2565638" cy="2133600"/>
          </a:xfrm>
          <a:prstGeom prst="roundRect">
            <a:avLst>
              <a:gd name="adj" fmla="val 5714"/>
            </a:avLst>
          </a:prstGeom>
          <a:solidFill>
            <a:srgbClr val="1E1A26"/>
          </a:solidFill>
          <a:ln w="19050">
            <a:solidFill>
              <a:srgbClr val="3A3A5C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96509" y="1854394"/>
            <a:ext cx="643762" cy="670560"/>
          </a:xfrm>
          <a:prstGeom prst="ellipse">
            <a:avLst/>
          </a:prstGeom>
          <a:solidFill>
            <a:srgbClr val="2E2E5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790" y="1951930"/>
            <a:ext cx="468190" cy="487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97731" y="1871706"/>
            <a:ext cx="1770841" cy="356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67" dirty="0">
                <a:solidFill>
                  <a:srgbClr val="9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МОВА ПРОГРАМУВАННЯ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117118" y="2143233"/>
            <a:ext cx="166901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5336830" y="2716256"/>
            <a:ext cx="2208759" cy="6096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336830" y="2736577"/>
            <a:ext cx="224714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Реалізація системи динамічних тіней, компонентів та ігрової логіки.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21835" y="1618976"/>
            <a:ext cx="2565638" cy="2133600"/>
          </a:xfrm>
          <a:prstGeom prst="roundRect">
            <a:avLst>
              <a:gd name="adj" fmla="val 5714"/>
            </a:avLst>
          </a:prstGeom>
          <a:solidFill>
            <a:srgbClr val="1E1A26"/>
          </a:solidFill>
          <a:ln w="19050">
            <a:solidFill>
              <a:srgbClr val="3A3A5C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46106" y="1854393"/>
            <a:ext cx="643762" cy="670560"/>
          </a:xfrm>
          <a:prstGeom prst="ellipse">
            <a:avLst/>
          </a:prstGeom>
          <a:solidFill>
            <a:srgbClr val="2E2E5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687" y="1944817"/>
            <a:ext cx="468190" cy="4876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21579" y="1824230"/>
            <a:ext cx="15568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67" dirty="0">
                <a:solidFill>
                  <a:srgbClr val="9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ВІЗУАЛЬНЕ ПРОГРАМУВАННЯ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9021579" y="2143232"/>
            <a:ext cx="166901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</a:t>
            </a:r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8241291" y="2716256"/>
            <a:ext cx="2247145" cy="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41291" y="2736576"/>
            <a:ext cx="2247145" cy="528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uk-UA" sz="12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Реалізація</a:t>
            </a:r>
            <a:r>
              <a:rPr lang="en-US" sz="12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механік, ігровий інтерфейс та поведінкові події.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01536" y="4010130"/>
            <a:ext cx="2565638" cy="2133600"/>
          </a:xfrm>
          <a:prstGeom prst="roundRect">
            <a:avLst>
              <a:gd name="adj" fmla="val 5714"/>
            </a:avLst>
          </a:prstGeom>
          <a:solidFill>
            <a:srgbClr val="1E1A26"/>
          </a:solidFill>
          <a:ln w="19050">
            <a:solidFill>
              <a:srgbClr val="3A3A5C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17171" y="4245547"/>
            <a:ext cx="643762" cy="670560"/>
          </a:xfrm>
          <a:prstGeom prst="ellipse">
            <a:avLst/>
          </a:prstGeom>
          <a:solidFill>
            <a:srgbClr val="2E2E5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92" y="4330891"/>
            <a:ext cx="468190" cy="4876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81824" y="4253970"/>
            <a:ext cx="14870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67" dirty="0">
                <a:solidFill>
                  <a:srgbClr val="9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СЕРЕДОВИЩЕ РОЗРОБКИ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581824" y="4534386"/>
            <a:ext cx="1487085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dirty="0"/>
          </a:p>
        </p:txBody>
      </p:sp>
      <p:sp>
        <p:nvSpPr>
          <p:cNvPr id="31" name="Shape 25"/>
          <p:cNvSpPr/>
          <p:nvPr/>
        </p:nvSpPr>
        <p:spPr>
          <a:xfrm>
            <a:off x="820992" y="5107410"/>
            <a:ext cx="2173996" cy="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20992" y="5140430"/>
            <a:ext cx="21739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для написання та відлагодження C++ коду проекту.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3503569" y="4020800"/>
            <a:ext cx="2565638" cy="2133600"/>
          </a:xfrm>
          <a:prstGeom prst="roundRect">
            <a:avLst>
              <a:gd name="adj" fmla="val 5714"/>
            </a:avLst>
          </a:prstGeom>
          <a:solidFill>
            <a:srgbClr val="1E1A26"/>
          </a:solidFill>
          <a:ln w="19050">
            <a:solidFill>
              <a:srgbClr val="3A3A5C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659844" y="4256217"/>
            <a:ext cx="643762" cy="670560"/>
          </a:xfrm>
          <a:prstGeom prst="ellipse">
            <a:avLst/>
          </a:prstGeom>
          <a:solidFill>
            <a:srgbClr val="2E2E55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0965" y="4341561"/>
            <a:ext cx="468190" cy="4876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503313" y="4240257"/>
            <a:ext cx="1547340" cy="32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67" dirty="0">
                <a:solidFill>
                  <a:srgbClr val="9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ВЕРСІЙ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503314" y="4545056"/>
            <a:ext cx="150895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dirty="0"/>
          </a:p>
        </p:txBody>
      </p:sp>
      <p:sp>
        <p:nvSpPr>
          <p:cNvPr id="38" name="Shape 31"/>
          <p:cNvSpPr/>
          <p:nvPr/>
        </p:nvSpPr>
        <p:spPr>
          <a:xfrm>
            <a:off x="3723025" y="5118080"/>
            <a:ext cx="2247145" cy="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723025" y="5151100"/>
            <a:ext cx="2247145" cy="551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контролю версій для управління кодовою базою.</a:t>
            </a:r>
            <a:endParaRPr lang="en-US" sz="120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CBBC5585-F38E-0D1B-261F-DBC7EC8C9911}"/>
              </a:ext>
            </a:extLst>
          </p:cNvPr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Технології</a:t>
            </a:r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1E755A33-E228-19AF-FC04-C7433D056D11}"/>
              </a:ext>
            </a:extLst>
          </p:cNvPr>
          <p:cNvSpPr/>
          <p:nvPr/>
        </p:nvSpPr>
        <p:spPr>
          <a:xfrm>
            <a:off x="6432926" y="4033501"/>
            <a:ext cx="2565638" cy="2133600"/>
          </a:xfrm>
          <a:prstGeom prst="roundRect">
            <a:avLst>
              <a:gd name="adj" fmla="val 5714"/>
            </a:avLst>
          </a:prstGeom>
          <a:solidFill>
            <a:srgbClr val="1E1A26"/>
          </a:solidFill>
          <a:ln w="19050">
            <a:solidFill>
              <a:srgbClr val="3A3A5C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8" name="Shape 28">
            <a:extLst>
              <a:ext uri="{FF2B5EF4-FFF2-40B4-BE49-F238E27FC236}">
                <a16:creationId xmlns:a16="http://schemas.microsoft.com/office/drawing/2014/main" id="{54B8F49F-EC7E-B7E9-11C9-45F41FDBA257}"/>
              </a:ext>
            </a:extLst>
          </p:cNvPr>
          <p:cNvSpPr/>
          <p:nvPr/>
        </p:nvSpPr>
        <p:spPr>
          <a:xfrm>
            <a:off x="6589201" y="4268918"/>
            <a:ext cx="643762" cy="670560"/>
          </a:xfrm>
          <a:prstGeom prst="ellipse">
            <a:avLst/>
          </a:prstGeom>
          <a:solidFill>
            <a:srgbClr val="2E2E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4B6E24ED-2CEF-B689-6DE5-201BDE5243D2}"/>
              </a:ext>
            </a:extLst>
          </p:cNvPr>
          <p:cNvSpPr/>
          <p:nvPr/>
        </p:nvSpPr>
        <p:spPr>
          <a:xfrm>
            <a:off x="7432670" y="4252958"/>
            <a:ext cx="1401768" cy="32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67" dirty="0">
                <a:solidFill>
                  <a:srgbClr val="9D6BFF"/>
                </a:solidFill>
                <a:latin typeface="Arial" pitchFamily="34" charset="0"/>
                <a:cs typeface="Arial" pitchFamily="34" charset="-120"/>
              </a:rPr>
              <a:t>2D </a:t>
            </a:r>
            <a:r>
              <a:rPr lang="uk-UA" sz="900" b="1" kern="0" spc="267" dirty="0">
                <a:solidFill>
                  <a:srgbClr val="9D6BFF"/>
                </a:solidFill>
                <a:latin typeface="Arial" pitchFamily="34" charset="0"/>
                <a:cs typeface="Arial" pitchFamily="34" charset="-120"/>
              </a:rPr>
              <a:t>РЕДАКТОР</a:t>
            </a:r>
            <a:endParaRPr lang="en-US" sz="900" dirty="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7CD9C1D3-FB4E-9144-7B68-60A89CE2614B}"/>
              </a:ext>
            </a:extLst>
          </p:cNvPr>
          <p:cNvSpPr/>
          <p:nvPr/>
        </p:nvSpPr>
        <p:spPr>
          <a:xfrm>
            <a:off x="7432671" y="4557757"/>
            <a:ext cx="150895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Gimp</a:t>
            </a:r>
            <a:endParaRPr lang="en-US" dirty="0"/>
          </a:p>
        </p:txBody>
      </p:sp>
      <p:sp>
        <p:nvSpPr>
          <p:cNvPr id="62" name="Shape 31">
            <a:extLst>
              <a:ext uri="{FF2B5EF4-FFF2-40B4-BE49-F238E27FC236}">
                <a16:creationId xmlns:a16="http://schemas.microsoft.com/office/drawing/2014/main" id="{86572B3E-2F95-2E6A-B190-0CA3EF021F18}"/>
              </a:ext>
            </a:extLst>
          </p:cNvPr>
          <p:cNvSpPr/>
          <p:nvPr/>
        </p:nvSpPr>
        <p:spPr>
          <a:xfrm>
            <a:off x="6652382" y="5130781"/>
            <a:ext cx="2247145" cy="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D4B002AD-A9E1-1548-4FEA-F1D7AEA04A4F}"/>
              </a:ext>
            </a:extLst>
          </p:cNvPr>
          <p:cNvSpPr/>
          <p:nvPr/>
        </p:nvSpPr>
        <p:spPr>
          <a:xfrm>
            <a:off x="6652382" y="5163801"/>
            <a:ext cx="2247145" cy="538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uk-UA" sz="1200" dirty="0">
                <a:solidFill>
                  <a:srgbClr val="AAAACC"/>
                </a:solidFill>
                <a:latin typeface="Arial" pitchFamily="34" charset="0"/>
                <a:cs typeface="Arial" pitchFamily="34" charset="-120"/>
              </a:rPr>
              <a:t>Створення та редагування</a:t>
            </a:r>
            <a:r>
              <a:rPr lang="en-US" sz="1200" dirty="0">
                <a:solidFill>
                  <a:srgbClr val="AAAACC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uk-UA" sz="1200" dirty="0">
                <a:solidFill>
                  <a:srgbClr val="AAAACC"/>
                </a:solidFill>
                <a:latin typeface="Arial" pitchFamily="34" charset="0"/>
                <a:cs typeface="Arial" pitchFamily="34" charset="-120"/>
              </a:rPr>
              <a:t>зображень, іконок та логотипів.</a:t>
            </a:r>
            <a:endParaRPr lang="en-US" sz="1200" dirty="0"/>
          </a:p>
        </p:txBody>
      </p:sp>
      <p:sp>
        <p:nvSpPr>
          <p:cNvPr id="73" name="Shape 27">
            <a:extLst>
              <a:ext uri="{FF2B5EF4-FFF2-40B4-BE49-F238E27FC236}">
                <a16:creationId xmlns:a16="http://schemas.microsoft.com/office/drawing/2014/main" id="{20CA1084-1E6F-7866-D67F-C13B38A2F002}"/>
              </a:ext>
            </a:extLst>
          </p:cNvPr>
          <p:cNvSpPr/>
          <p:nvPr/>
        </p:nvSpPr>
        <p:spPr>
          <a:xfrm>
            <a:off x="9304654" y="4033501"/>
            <a:ext cx="2565638" cy="2133600"/>
          </a:xfrm>
          <a:prstGeom prst="roundRect">
            <a:avLst>
              <a:gd name="adj" fmla="val 5714"/>
            </a:avLst>
          </a:prstGeom>
          <a:solidFill>
            <a:srgbClr val="1E1A26"/>
          </a:solidFill>
          <a:ln w="19050">
            <a:solidFill>
              <a:srgbClr val="3A3A5C"/>
            </a:solidFill>
            <a:prstDash val="solid"/>
          </a:ln>
          <a:effectLst>
            <a:outerShdw blurRad="152400" dist="508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4" name="Shape 28">
            <a:extLst>
              <a:ext uri="{FF2B5EF4-FFF2-40B4-BE49-F238E27FC236}">
                <a16:creationId xmlns:a16="http://schemas.microsoft.com/office/drawing/2014/main" id="{BD60A82C-1A30-FE05-C490-60D86DE571BB}"/>
              </a:ext>
            </a:extLst>
          </p:cNvPr>
          <p:cNvSpPr/>
          <p:nvPr/>
        </p:nvSpPr>
        <p:spPr>
          <a:xfrm>
            <a:off x="9460929" y="4268918"/>
            <a:ext cx="643762" cy="670560"/>
          </a:xfrm>
          <a:prstGeom prst="ellipse">
            <a:avLst/>
          </a:prstGeom>
          <a:solidFill>
            <a:srgbClr val="2E2E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29">
            <a:extLst>
              <a:ext uri="{FF2B5EF4-FFF2-40B4-BE49-F238E27FC236}">
                <a16:creationId xmlns:a16="http://schemas.microsoft.com/office/drawing/2014/main" id="{D09F8A14-FA7E-3D65-9B8F-37F54CC830EF}"/>
              </a:ext>
            </a:extLst>
          </p:cNvPr>
          <p:cNvSpPr/>
          <p:nvPr/>
        </p:nvSpPr>
        <p:spPr>
          <a:xfrm>
            <a:off x="10304398" y="4252958"/>
            <a:ext cx="1547340" cy="32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67" dirty="0">
                <a:solidFill>
                  <a:srgbClr val="9D6BFF"/>
                </a:solidFill>
                <a:latin typeface="Arial" pitchFamily="34" charset="0"/>
                <a:cs typeface="Arial" pitchFamily="34" charset="-120"/>
              </a:rPr>
              <a:t>3D </a:t>
            </a:r>
            <a:r>
              <a:rPr lang="uk-UA" sz="900" b="1" kern="0" spc="267" dirty="0">
                <a:solidFill>
                  <a:srgbClr val="9D6BFF"/>
                </a:solidFill>
                <a:latin typeface="Arial" pitchFamily="34" charset="0"/>
                <a:cs typeface="Arial" pitchFamily="34" charset="-120"/>
              </a:rPr>
              <a:t>РЕДАКТОР</a:t>
            </a:r>
            <a:endParaRPr lang="en-US" sz="900" dirty="0"/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165C9249-E991-2D47-6634-9832CB5707A0}"/>
              </a:ext>
            </a:extLst>
          </p:cNvPr>
          <p:cNvSpPr/>
          <p:nvPr/>
        </p:nvSpPr>
        <p:spPr>
          <a:xfrm>
            <a:off x="10304399" y="4557757"/>
            <a:ext cx="150895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</a:t>
            </a:r>
            <a:endParaRPr lang="en-US" dirty="0"/>
          </a:p>
        </p:txBody>
      </p:sp>
      <p:sp>
        <p:nvSpPr>
          <p:cNvPr id="78" name="Shape 31">
            <a:extLst>
              <a:ext uri="{FF2B5EF4-FFF2-40B4-BE49-F238E27FC236}">
                <a16:creationId xmlns:a16="http://schemas.microsoft.com/office/drawing/2014/main" id="{1D2F159E-8135-E68B-AB5D-CB8818E474A3}"/>
              </a:ext>
            </a:extLst>
          </p:cNvPr>
          <p:cNvSpPr/>
          <p:nvPr/>
        </p:nvSpPr>
        <p:spPr>
          <a:xfrm>
            <a:off x="9524110" y="5130781"/>
            <a:ext cx="2247145" cy="0"/>
          </a:xfrm>
          <a:prstGeom prst="line">
            <a:avLst/>
          </a:prstGeom>
          <a:noFill/>
          <a:ln w="12700">
            <a:solidFill>
              <a:srgbClr val="3A3A5C"/>
            </a:solidFill>
            <a:prstDash val="solid"/>
          </a:ln>
        </p:spPr>
      </p:sp>
      <p:sp>
        <p:nvSpPr>
          <p:cNvPr id="79" name="Text 32">
            <a:extLst>
              <a:ext uri="{FF2B5EF4-FFF2-40B4-BE49-F238E27FC236}">
                <a16:creationId xmlns:a16="http://schemas.microsoft.com/office/drawing/2014/main" id="{60BD89A3-5CFA-C0DD-B113-B508743FC67E}"/>
              </a:ext>
            </a:extLst>
          </p:cNvPr>
          <p:cNvSpPr/>
          <p:nvPr/>
        </p:nvSpPr>
        <p:spPr>
          <a:xfrm>
            <a:off x="9524110" y="5163800"/>
            <a:ext cx="2247145" cy="515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uk-UA" sz="12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Редагування </a:t>
            </a:r>
            <a:r>
              <a:rPr lang="en-US" sz="12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</a:t>
            </a:r>
            <a:r>
              <a:rPr lang="uk-UA" sz="1200" dirty="0">
                <a:solidFill>
                  <a:srgbClr val="AA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моделей та текстур.</a:t>
            </a:r>
            <a:endParaRPr lang="en-US" sz="1200" dirty="0"/>
          </a:p>
        </p:txBody>
      </p:sp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6A553679-F935-1C0A-E619-96AE419C64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6158" y="4256217"/>
            <a:ext cx="694981" cy="694981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1DD86D41-DB35-E7BE-F017-5EDD0ABF5E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18825" y="4380970"/>
            <a:ext cx="523715" cy="428246"/>
          </a:xfrm>
          <a:prstGeom prst="rect">
            <a:avLst/>
          </a:prstGeom>
        </p:spPr>
      </p:pic>
      <p:sp>
        <p:nvSpPr>
          <p:cNvPr id="84" name="Text 39">
            <a:extLst>
              <a:ext uri="{FF2B5EF4-FFF2-40B4-BE49-F238E27FC236}">
                <a16:creationId xmlns:a16="http://schemas.microsoft.com/office/drawing/2014/main" id="{B7E9EA31-E693-C619-1929-391F83D540BF}"/>
              </a:ext>
            </a:extLst>
          </p:cNvPr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вмінь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2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КАТЕГОРІЯ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Взаємодія з джерелами світла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365760" cy="36576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671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Гасіння джерела світла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233248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uk-UA" sz="103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Дистанційно вимикає </a:t>
            </a:r>
            <a:r>
              <a:rPr lang="uk-UA" sz="1030" dirty="0" err="1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LightActor</a:t>
            </a:r>
            <a:endParaRPr lang="uk-UA" sz="1030" dirty="0"/>
          </a:p>
        </p:txBody>
      </p:sp>
      <p:sp>
        <p:nvSpPr>
          <p:cNvPr id="11" name="Shape 8"/>
          <p:cNvSpPr/>
          <p:nvPr/>
        </p:nvSpPr>
        <p:spPr>
          <a:xfrm>
            <a:off x="777240" y="2852928"/>
            <a:ext cx="365760" cy="36576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5292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8254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Відволікаючий шум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280160" y="299085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Звуковий стимул, що відводить NPC від маршруту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6199632" y="123444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6131C"/>
          </a:solidFill>
          <a:ln/>
        </p:spPr>
      </p:sp>
      <p:sp>
        <p:nvSpPr>
          <p:cNvPr id="16" name="Text 12"/>
          <p:cNvSpPr/>
          <p:nvPr/>
        </p:nvSpPr>
        <p:spPr>
          <a:xfrm>
            <a:off x="6473952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КАТЕГОРІЯ 2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473952" y="1691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Взаємодія з тінями ворогів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468237" y="2112264"/>
            <a:ext cx="365760" cy="365760"/>
          </a:xfrm>
          <a:prstGeom prst="ellipse">
            <a:avLst/>
          </a:prstGeom>
          <a:solidFill>
            <a:srgbClr val="3D1A6E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533" y="219456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67728" y="2123313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Приголомшення через тінь NPC</a:t>
            </a:r>
            <a:endParaRPr lang="en-US" sz="1180" dirty="0"/>
          </a:p>
        </p:txBody>
      </p:sp>
      <p:sp>
        <p:nvSpPr>
          <p:cNvPr id="21" name="Shape 16"/>
          <p:cNvSpPr/>
          <p:nvPr/>
        </p:nvSpPr>
        <p:spPr>
          <a:xfrm>
            <a:off x="6468237" y="2569464"/>
            <a:ext cx="365760" cy="365760"/>
          </a:xfrm>
          <a:prstGeom prst="ellipse">
            <a:avLst/>
          </a:prstGeom>
          <a:solidFill>
            <a:srgbClr val="3D1A6E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533" y="2651760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67728" y="2580513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Тіньова пастка — проєкція власної тіні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6468237" y="3026664"/>
            <a:ext cx="365760" cy="365760"/>
          </a:xfrm>
          <a:prstGeom prst="ellipse">
            <a:avLst/>
          </a:prstGeom>
          <a:solidFill>
            <a:srgbClr val="3D1A6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533" y="310896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67728" y="3037713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Переміщення за спину NPC через тінь</a:t>
            </a:r>
            <a:endParaRPr lang="en-US" sz="1180" dirty="0"/>
          </a:p>
        </p:txBody>
      </p:sp>
      <p:sp>
        <p:nvSpPr>
          <p:cNvPr id="27" name="Shape 20"/>
          <p:cNvSpPr/>
          <p:nvPr/>
        </p:nvSpPr>
        <p:spPr>
          <a:xfrm>
            <a:off x="502920" y="3794760"/>
            <a:ext cx="11247120" cy="310896"/>
          </a:xfrm>
          <a:prstGeom prst="roundRect">
            <a:avLst>
              <a:gd name="adj" fmla="val 11765"/>
            </a:avLst>
          </a:prstGeom>
          <a:solidFill>
            <a:srgbClr val="7A3DCC"/>
          </a:solidFill>
          <a:ln/>
        </p:spPr>
      </p:sp>
      <p:sp>
        <p:nvSpPr>
          <p:cNvPr id="28" name="Text 21"/>
          <p:cNvSpPr/>
          <p:nvPr/>
        </p:nvSpPr>
        <p:spPr>
          <a:xfrm>
            <a:off x="685800" y="379476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ВМІННЯ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892040" y="379476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ВІДНОВЛЕННЯ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412480" y="379476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502920" y="4133088"/>
            <a:ext cx="11247120" cy="310896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32" name="Text 25"/>
          <p:cNvSpPr/>
          <p:nvPr/>
        </p:nvSpPr>
        <p:spPr>
          <a:xfrm>
            <a:off x="685800" y="413308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Гасіння світла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892040" y="413308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с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8412480" y="413308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02920" y="4471416"/>
            <a:ext cx="112471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29"/>
          <p:cNvSpPr/>
          <p:nvPr/>
        </p:nvSpPr>
        <p:spPr>
          <a:xfrm>
            <a:off x="685800" y="44714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Відволікаючий шум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892040" y="44714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с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8412480" y="4471416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02920" y="4809744"/>
            <a:ext cx="11247120" cy="310896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40" name="Text 33"/>
          <p:cNvSpPr/>
          <p:nvPr/>
        </p:nvSpPr>
        <p:spPr>
          <a:xfrm>
            <a:off x="685800" y="480974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Приголомшення через тінь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4892040" y="4809744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с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8412480" y="4809744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502920" y="5148072"/>
            <a:ext cx="112471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7"/>
          <p:cNvSpPr/>
          <p:nvPr/>
        </p:nvSpPr>
        <p:spPr>
          <a:xfrm>
            <a:off x="685800" y="514807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Тіньова пастка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4892040" y="514807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с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8412480" y="5148072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502920" y="5486400"/>
            <a:ext cx="11247120" cy="310896"/>
          </a:xfrm>
          <a:prstGeom prst="rect">
            <a:avLst/>
          </a:prstGeom>
          <a:solidFill>
            <a:srgbClr val="F4F1FA"/>
          </a:solidFill>
          <a:ln/>
        </p:spPr>
      </p:sp>
      <p:sp>
        <p:nvSpPr>
          <p:cNvPr id="48" name="Text 41"/>
          <p:cNvSpPr/>
          <p:nvPr/>
        </p:nvSpPr>
        <p:spPr>
          <a:xfrm>
            <a:off x="685800" y="5486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спину NPC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4892040" y="548640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с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8412480" y="5486400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 err="1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</a:t>
            </a:r>
            <a:r>
              <a:rPr lang="en-US" sz="27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тіней виконується в багатопотоковому режимі на основі трьох взаємопов'язаних класів.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03120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20370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578607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LightActor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971799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Сферична колізія, що окреслює радіус дії джерела світла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187452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103120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20370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2578607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OwnerActor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2971799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Актор, що відкидає тінь; передає параметри компоненту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412480" y="1874520"/>
            <a:ext cx="3154680" cy="1691640"/>
          </a:xfrm>
          <a:prstGeom prst="roundRect">
            <a:avLst>
              <a:gd name="adj" fmla="val 4324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103120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22037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2578607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ShadowActorComponent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41080" y="2971799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силуету тіні: промені від LightActor по контуру OwnerActor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849624" y="2720340"/>
            <a:ext cx="621792" cy="0"/>
          </a:xfrm>
          <a:prstGeom prst="line">
            <a:avLst/>
          </a:prstGeom>
          <a:noFill/>
          <a:ln w="25400">
            <a:solidFill>
              <a:srgbClr val="6B2EFF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735824" y="2720340"/>
            <a:ext cx="621792" cy="0"/>
          </a:xfrm>
          <a:prstGeom prst="line">
            <a:avLst/>
          </a:prstGeom>
          <a:noFill/>
          <a:ln w="25400">
            <a:solidFill>
              <a:srgbClr val="6B2EFF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40080" y="393192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16131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4400" y="4343400"/>
            <a:ext cx="594360" cy="594360"/>
          </a:xfrm>
          <a:prstGeom prst="ellipse">
            <a:avLst/>
          </a:prstGeom>
          <a:solidFill>
            <a:srgbClr val="3D1A6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131" y="4477131"/>
            <a:ext cx="326898" cy="32689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4133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ShadowActor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691640" y="4526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Володіє процедурним мешем у формі тіні та зчитує колізію — це дозволяє тіні реагувати на дотик персонажів, об'єктів та інших тіней.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223760" y="413308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D6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7086600" y="47365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uk-UA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Сегментів</a:t>
            </a:r>
            <a:r>
              <a:rPr lang="en-US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силуету</a:t>
            </a:r>
            <a:endParaRPr lang="uk-UA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uk-UA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персонажа</a:t>
            </a:r>
            <a:endParaRPr lang="uk-UA" sz="1200" dirty="0"/>
          </a:p>
        </p:txBody>
      </p:sp>
      <p:sp>
        <p:nvSpPr>
          <p:cNvPr id="29" name="Text 23"/>
          <p:cNvSpPr/>
          <p:nvPr/>
        </p:nvSpPr>
        <p:spPr>
          <a:xfrm>
            <a:off x="9235440" y="41330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D6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с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9052560" y="4730763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uk-UA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Інтервал</a:t>
            </a:r>
            <a:r>
              <a:rPr lang="en-US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перерахунку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силуету тіні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Продуктивність системи</a:t>
            </a:r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Intel Core i7-14700HX, 16 ГБ DDR5. Середнє значення з 500 циклів на 1 актора-тінь.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916553039"/>
              </p:ext>
            </p:extLst>
          </p:nvPr>
        </p:nvGraphicFramePr>
        <p:xfrm>
          <a:off x="502920" y="169164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69164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55280" y="182880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B2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0.2 мс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955280" y="235458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uk-UA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Максимальне</a:t>
            </a: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блокування основного ігрового потоку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26680" y="32004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55280" y="33375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B2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955280" y="38633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uk-UA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</a:t>
            </a: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світла, опрацьованих без критичної втрати продуктивності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26680" y="470916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16131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09560" y="48006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Повторний виклик розрахунку ігнорується, поки не завершено попередній — це запобігає накопиченню навантаження.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маршрутів патрулювання NPC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Гнучка побудова маршрутів через клас точок BP_Rout_Poin та трирівневу схему таблиць даних — без написання окремої логіки для кожного рівня.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1122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391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BP_Rout_Poin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Окремий клас точки маршруту, що визначає: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081528"/>
            <a:ext cx="73152" cy="73152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0175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Положення на рівні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3465576"/>
            <a:ext cx="73152" cy="73152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4015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огляду NPC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3849624"/>
            <a:ext cx="73152" cy="73152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37856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</a:t>
            </a:r>
            <a:r>
              <a:rPr lang="en-US" sz="1150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очікування</a:t>
            </a:r>
            <a:endParaRPr lang="uk-UA" sz="1150" dirty="0">
              <a:solidFill>
                <a:srgbClr val="1A16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68680" y="4233672"/>
            <a:ext cx="73152" cy="73152"/>
          </a:xfrm>
          <a:prstGeom prst="ellipse">
            <a:avLst/>
          </a:prstGeom>
          <a:solidFill>
            <a:srgbClr val="6B2E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78992" y="4169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Варіативність позиції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" y="4645152"/>
            <a:ext cx="3611880" cy="0"/>
          </a:xfrm>
          <a:prstGeom prst="line">
            <a:avLst/>
          </a:prstGeom>
          <a:noFill/>
          <a:ln w="12700">
            <a:solidFill>
              <a:srgbClr val="D8D4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828032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A3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зручно переміщувати по рівню, гнучко налаштовувати й візуалізувати позицію NPC безпосередньо в редакторі.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83480" y="1783080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7A3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ТРИРІВНЕВА СХЕМА ТАБЛИЦЬ ДАНИХ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83480" y="2148840"/>
            <a:ext cx="6720840" cy="777240"/>
          </a:xfrm>
          <a:prstGeom prst="roundRect">
            <a:avLst>
              <a:gd name="adj" fmla="val 9412"/>
            </a:avLst>
          </a:prstGeom>
          <a:solidFill>
            <a:srgbClr val="16131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5257800" y="2221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DT_Level_routs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57800" y="2532888"/>
            <a:ext cx="617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03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Закріплює</a:t>
            </a:r>
            <a:r>
              <a:rPr lang="en-US" sz="103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таблицю маршрутів за кожним ігровим рівнем</a:t>
            </a:r>
            <a:endParaRPr lang="en-US" sz="1030" dirty="0"/>
          </a:p>
        </p:txBody>
      </p:sp>
      <p:sp>
        <p:nvSpPr>
          <p:cNvPr id="24" name="Shape 21"/>
          <p:cNvSpPr/>
          <p:nvPr/>
        </p:nvSpPr>
        <p:spPr>
          <a:xfrm>
            <a:off x="8343900" y="2926080"/>
            <a:ext cx="0" cy="256032"/>
          </a:xfrm>
          <a:prstGeom prst="line">
            <a:avLst/>
          </a:prstGeom>
          <a:noFill/>
          <a:ln w="25400">
            <a:solidFill>
              <a:srgbClr val="7A3DCC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983480" y="3182112"/>
            <a:ext cx="6720840" cy="777240"/>
          </a:xfrm>
          <a:prstGeom prst="roundRect">
            <a:avLst>
              <a:gd name="adj" fmla="val 9412"/>
            </a:avLst>
          </a:prstGeom>
          <a:solidFill>
            <a:srgbClr val="3D1A6E"/>
          </a:solidFill>
          <a:ln/>
        </p:spPr>
      </p:sp>
      <p:sp>
        <p:nvSpPr>
          <p:cNvPr id="26" name="Text 23"/>
          <p:cNvSpPr/>
          <p:nvPr/>
        </p:nvSpPr>
        <p:spPr>
          <a:xfrm>
            <a:off x="5257800" y="32552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DT_NPC_Routs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257800" y="3566160"/>
            <a:ext cx="617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03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Розподіляє</a:t>
            </a:r>
            <a:r>
              <a:rPr lang="en-US" sz="103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конкретні маршрути між окремими NPC рівня</a:t>
            </a:r>
            <a:endParaRPr lang="en-US" sz="1030" dirty="0"/>
          </a:p>
        </p:txBody>
      </p:sp>
      <p:sp>
        <p:nvSpPr>
          <p:cNvPr id="28" name="Shape 25"/>
          <p:cNvSpPr/>
          <p:nvPr/>
        </p:nvSpPr>
        <p:spPr>
          <a:xfrm>
            <a:off x="8343900" y="3959352"/>
            <a:ext cx="0" cy="256032"/>
          </a:xfrm>
          <a:prstGeom prst="line">
            <a:avLst/>
          </a:prstGeom>
          <a:noFill/>
          <a:ln w="25400">
            <a:solidFill>
              <a:srgbClr val="7A3DCC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983480" y="4215384"/>
            <a:ext cx="6720840" cy="777240"/>
          </a:xfrm>
          <a:prstGeom prst="roundRect">
            <a:avLst>
              <a:gd name="adj" fmla="val 9412"/>
            </a:avLst>
          </a:prstGeom>
          <a:solidFill>
            <a:srgbClr val="6B2EFF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0" name="Text 27"/>
          <p:cNvSpPr/>
          <p:nvPr/>
        </p:nvSpPr>
        <p:spPr>
          <a:xfrm>
            <a:off x="5257800" y="42885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DT_Village_CenterPatrol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257800" y="4599432"/>
            <a:ext cx="617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030" dirty="0">
                <a:solidFill>
                  <a:srgbClr val="ED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030" dirty="0" err="1">
                <a:solidFill>
                  <a:srgbClr val="ED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ослідовність</a:t>
            </a:r>
            <a:r>
              <a:rPr lang="en-US" sz="1030" dirty="0">
                <a:solidFill>
                  <a:srgbClr val="ED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точок BP_Rout_Poin конкретного маршруту</a:t>
            </a:r>
            <a:endParaRPr lang="en-US" sz="1030" dirty="0"/>
          </a:p>
        </p:txBody>
      </p:sp>
      <p:sp>
        <p:nvSpPr>
          <p:cNvPr id="32" name="Shape 29"/>
          <p:cNvSpPr/>
          <p:nvPr/>
        </p:nvSpPr>
        <p:spPr>
          <a:xfrm>
            <a:off x="4983480" y="5166360"/>
            <a:ext cx="6720840" cy="1051560"/>
          </a:xfrm>
          <a:prstGeom prst="roundRect">
            <a:avLst>
              <a:gd name="adj" fmla="val 6957"/>
            </a:avLst>
          </a:prstGeom>
          <a:solidFill>
            <a:srgbClr val="F4F1F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212080" y="5349240"/>
            <a:ext cx="411480" cy="411480"/>
          </a:xfrm>
          <a:prstGeom prst="ellipse">
            <a:avLst/>
          </a:prstGeom>
          <a:solidFill>
            <a:srgbClr val="F5F3FA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5554980"/>
            <a:ext cx="246888" cy="24688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705856" y="5191887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Уніфікований шаблон для будь-якого рівня: логіка завантаження й виконання маршрутів пишеться один раз і повторно використовується для всіх NPC та локацій.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Інтерфейс і візуальний стиль гри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4069080"/>
          </a:xfrm>
          <a:prstGeom prst="roundRect">
            <a:avLst>
              <a:gd name="adj" fmla="val 1348"/>
            </a:avLst>
          </a:prstGeom>
          <a:solidFill>
            <a:srgbClr val="2E2A38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14813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Підказки щодо цілі рівня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777240" cy="777240"/>
          </a:xfrm>
          <a:prstGeom prst="ellipse">
            <a:avLst/>
          </a:prstGeom>
          <a:solidFill>
            <a:srgbClr val="7A3DC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59" y="4609719"/>
            <a:ext cx="427482" cy="4274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17320" y="4160520"/>
            <a:ext cx="1005840" cy="1005840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634" y="4386834"/>
            <a:ext cx="553212" cy="5532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94560" y="4434840"/>
            <a:ext cx="777240" cy="777240"/>
          </a:xfrm>
          <a:prstGeom prst="ellipse">
            <a:avLst/>
          </a:prstGeom>
          <a:solidFill>
            <a:srgbClr val="7A3DC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9439" y="4609719"/>
            <a:ext cx="427482" cy="4274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5120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Активне вміння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77240" y="1508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Індикатор пошкодження — затемнення та почервоніння країв екрана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35508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Колірна палітра інтерфейсу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355080" y="1783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B2EFF"/>
          </a:solidFill>
          <a:ln/>
        </p:spPr>
      </p:sp>
      <p:sp>
        <p:nvSpPr>
          <p:cNvPr id="17" name="Text 12"/>
          <p:cNvSpPr/>
          <p:nvPr/>
        </p:nvSpPr>
        <p:spPr>
          <a:xfrm>
            <a:off x="6995160" y="17647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#6B2EFF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995160" y="202082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Основний фіолетовий (активний)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6355080" y="23865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9D6BFF"/>
          </a:solidFill>
          <a:ln/>
        </p:spPr>
      </p:sp>
      <p:sp>
        <p:nvSpPr>
          <p:cNvPr id="20" name="Text 15"/>
          <p:cNvSpPr/>
          <p:nvPr/>
        </p:nvSpPr>
        <p:spPr>
          <a:xfrm>
            <a:off x="6995160" y="236829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#9D6BFF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995160" y="26243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Світлий фіолетовий (акцент)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6355080" y="299008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1A6E"/>
          </a:solidFill>
          <a:ln/>
        </p:spPr>
      </p:sp>
      <p:sp>
        <p:nvSpPr>
          <p:cNvPr id="23" name="Text 18"/>
          <p:cNvSpPr/>
          <p:nvPr/>
        </p:nvSpPr>
        <p:spPr>
          <a:xfrm>
            <a:off x="6995160" y="2971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#3D1A6E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995160" y="32278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Темний фіолетовий (фон елементів)</a:t>
            </a:r>
            <a:endParaRPr lang="en-US" sz="980" dirty="0"/>
          </a:p>
        </p:txBody>
      </p:sp>
      <p:sp>
        <p:nvSpPr>
          <p:cNvPr id="25" name="Shape 20"/>
          <p:cNvSpPr/>
          <p:nvPr/>
        </p:nvSpPr>
        <p:spPr>
          <a:xfrm>
            <a:off x="6355080" y="3593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5C4B6E"/>
          </a:solidFill>
          <a:ln/>
        </p:spPr>
      </p:sp>
      <p:sp>
        <p:nvSpPr>
          <p:cNvPr id="26" name="Text 21"/>
          <p:cNvSpPr/>
          <p:nvPr/>
        </p:nvSpPr>
        <p:spPr>
          <a:xfrm>
            <a:off x="6995160" y="35753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#5C4B6E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995160" y="383133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Сірий з фіолетовим відтінком</a:t>
            </a:r>
            <a:endParaRPr lang="en-US" sz="980" dirty="0"/>
          </a:p>
        </p:txBody>
      </p:sp>
      <p:sp>
        <p:nvSpPr>
          <p:cNvPr id="28" name="Shape 23"/>
          <p:cNvSpPr/>
          <p:nvPr/>
        </p:nvSpPr>
        <p:spPr>
          <a:xfrm>
            <a:off x="6355080" y="419709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A2A33"/>
          </a:solidFill>
          <a:ln/>
        </p:spPr>
      </p:sp>
      <p:sp>
        <p:nvSpPr>
          <p:cNvPr id="29" name="Text 24"/>
          <p:cNvSpPr/>
          <p:nvPr/>
        </p:nvSpPr>
        <p:spPr>
          <a:xfrm>
            <a:off x="6995160" y="41788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#2A2A33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995160" y="44348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Темний сірий (фон інтерфейсу)</a:t>
            </a:r>
            <a:endParaRPr lang="en-US" sz="980" dirty="0"/>
          </a:p>
        </p:txBody>
      </p:sp>
      <p:sp>
        <p:nvSpPr>
          <p:cNvPr id="31" name="Text 26"/>
          <p:cNvSpPr/>
          <p:nvPr/>
        </p:nvSpPr>
        <p:spPr>
          <a:xfrm>
            <a:off x="6355080" y="493776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Тепле освітлення (смолоскипи, свічки) контрастує з холодним середньовічним середовищем — гравець інтуїтивно розрізняє небезпечні та безпечні зони тіні.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Поведінка </a:t>
            </a:r>
            <a:r>
              <a:rPr lang="en-US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E1A2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819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Патрулювання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Tree рухає NPC по точках маршруту (BP_Rout_Poin)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105656" y="2125980"/>
            <a:ext cx="246888" cy="0"/>
          </a:xfrm>
          <a:prstGeom prst="line">
            <a:avLst/>
          </a:prstGeom>
          <a:noFill/>
          <a:ln w="25400">
            <a:solidFill>
              <a:srgbClr val="9D6B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8912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E1A26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5819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Попередження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1984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Накопичення підозри при короткому потраплянні у поле зору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946136" y="2125980"/>
            <a:ext cx="246888" cy="0"/>
          </a:xfrm>
          <a:prstGeom prst="line">
            <a:avLst/>
          </a:prstGeom>
          <a:noFill/>
          <a:ln w="25400">
            <a:solidFill>
              <a:srgbClr val="9D6B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6B2EFF"/>
          </a:solidFill>
          <a:ln/>
        </p:spPr>
      </p:sp>
      <p:sp>
        <p:nvSpPr>
          <p:cNvPr id="13" name="Text 11"/>
          <p:cNvSpPr/>
          <p:nvPr/>
        </p:nvSpPr>
        <p:spPr>
          <a:xfrm>
            <a:off x="8458200" y="15819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Переслідування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58200" y="19842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Активне виявлення гравця у добре освітленій зоні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0561320" cy="457200"/>
          </a:xfrm>
          <a:prstGeom prst="roundRect">
            <a:avLst>
              <a:gd name="adj" fmla="val 10000"/>
            </a:avLst>
          </a:prstGeom>
          <a:solidFill>
            <a:srgbClr val="3D1A6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ОСВІТЛЕННЯ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32461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КУТ ОГЛЯДУ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27648" y="32461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ДИСТАНЦІЯ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14816" y="3246120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F5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ПІДОЗРА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58184"/>
            <a:ext cx="10561320" cy="457200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5818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Низький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0" y="375818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27648" y="375818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814816" y="3758184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270248"/>
            <a:ext cx="10561320" cy="457200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702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Помірний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0" y="42702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70°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27648" y="42702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814816" y="4270248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782312"/>
            <a:ext cx="10561320" cy="457200"/>
          </a:xfrm>
          <a:prstGeom prst="rect">
            <a:avLst/>
          </a:prstGeom>
          <a:solidFill>
            <a:srgbClr val="1E1A2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7823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Високий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840480" y="478231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27648" y="478231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814816" y="4782312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ТЕСТУВАННЯ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93483820"/>
              </p:ext>
            </p:extLst>
          </p:nvPr>
        </p:nvGraphicFramePr>
        <p:xfrm>
          <a:off x="536448" y="1684020"/>
          <a:ext cx="5852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62940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Типи проведеного тестування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29400" y="1783080"/>
            <a:ext cx="292608" cy="292608"/>
          </a:xfrm>
          <a:prstGeom prst="ellipse">
            <a:avLst/>
          </a:prstGeom>
          <a:solidFill>
            <a:srgbClr val="F4F1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922" y="1841602"/>
            <a:ext cx="175565" cy="1755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408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Інтеграційне тестування даних та БД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629400" y="2167128"/>
            <a:ext cx="292608" cy="292608"/>
          </a:xfrm>
          <a:prstGeom prst="ellipse">
            <a:avLst/>
          </a:prstGeom>
          <a:solidFill>
            <a:srgbClr val="F4F1F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922" y="2225650"/>
            <a:ext cx="175565" cy="1755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40880" y="2167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Функціональне («сіра скриня»)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629400" y="2551176"/>
            <a:ext cx="292608" cy="292608"/>
          </a:xfrm>
          <a:prstGeom prst="ellipse">
            <a:avLst/>
          </a:prstGeom>
          <a:solidFill>
            <a:srgbClr val="F4F1F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922" y="2609698"/>
            <a:ext cx="175565" cy="1755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40880" y="25511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інтерфейсу користувача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629400" y="2935224"/>
            <a:ext cx="292608" cy="292608"/>
          </a:xfrm>
          <a:prstGeom prst="ellipse">
            <a:avLst/>
          </a:prstGeom>
          <a:solidFill>
            <a:srgbClr val="F4F1F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922" y="2993746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40880" y="29352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 продуктивності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629400" y="352044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16131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858000" y="3703320"/>
            <a:ext cx="411480" cy="411480"/>
          </a:xfrm>
          <a:prstGeom prst="ellipse">
            <a:avLst/>
          </a:prstGeom>
          <a:solidFill>
            <a:srgbClr val="7030A0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0583" y="3795903"/>
            <a:ext cx="226314" cy="22631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06640" y="37216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Найкритичніші дефекти Shadow System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858000" y="4206240"/>
            <a:ext cx="46177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блокуючих краші (доступ поза основним потоком, access violation); критичне падіння FPS — до 60-70% часу кадру при надмірному навантаженні тіньової системи.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F646B2BE-6DA0-B192-6BFF-C25B5508C53B}"/>
              </a:ext>
            </a:extLst>
          </p:cNvPr>
          <p:cNvSpPr/>
          <p:nvPr/>
        </p:nvSpPr>
        <p:spPr>
          <a:xfrm>
            <a:off x="502920" y="1090879"/>
            <a:ext cx="5167122" cy="470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дефект виявлено й задокументовано</a:t>
            </a:r>
            <a:endParaRPr lang="en-US" sz="1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1A2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5029200" cy="5029200"/>
          </a:xfrm>
          <a:prstGeom prst="ellipse">
            <a:avLst/>
          </a:prstGeom>
          <a:solidFill>
            <a:srgbClr val="3D1A6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uk-UA" sz="27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Впровадження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75309" y="1463040"/>
            <a:ext cx="7035165" cy="2286000"/>
          </a:xfrm>
          <a:prstGeom prst="roundRect">
            <a:avLst>
              <a:gd name="adj" fmla="val 3200"/>
            </a:avLst>
          </a:prstGeom>
          <a:solidFill>
            <a:srgbClr val="1E1A2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9630" y="1691640"/>
            <a:ext cx="502920" cy="502920"/>
          </a:xfrm>
          <a:prstGeom prst="ellipse">
            <a:avLst/>
          </a:prstGeom>
          <a:solidFill>
            <a:srgbClr val="3D1A6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87" y="180479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9710" y="17190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Наукове впровадження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9630" y="219456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Тези «Система інтерактивних тіней в іграх» — V Всеукраїнська н.-т. конференція, Одеса, 2025.</a:t>
            </a:r>
            <a:endParaRPr lang="uk-UA" sz="1200" dirty="0">
              <a:solidFill>
                <a:srgbClr val="B0B0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uk-UA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Подано</a:t>
            </a:r>
            <a:r>
              <a:rPr lang="en-US" sz="12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заявку на державну реєстрацію авторського права.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5309" y="3931920"/>
            <a:ext cx="7035165" cy="1371600"/>
          </a:xfrm>
          <a:prstGeom prst="roundRect">
            <a:avLst>
              <a:gd name="adj" fmla="val 5333"/>
            </a:avLst>
          </a:prstGeom>
          <a:solidFill>
            <a:srgbClr val="1E1A26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9630" y="40965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Соціальне впровадження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49630" y="4462272"/>
            <a:ext cx="438912" cy="438912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20" y="4561027"/>
            <a:ext cx="241402" cy="24140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453134" y="4462272"/>
            <a:ext cx="438912" cy="438912"/>
          </a:xfrm>
          <a:prstGeom prst="ellipse">
            <a:avLst/>
          </a:prstGeom>
          <a:solidFill>
            <a:srgbClr val="7A3DC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889" y="4561027"/>
            <a:ext cx="241402" cy="24140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056638" y="4462272"/>
            <a:ext cx="438912" cy="438912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5393" y="4561027"/>
            <a:ext cx="241402" cy="24140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60142" y="4462272"/>
            <a:ext cx="438912" cy="438912"/>
          </a:xfrm>
          <a:prstGeom prst="ellipse">
            <a:avLst/>
          </a:prstGeom>
          <a:solidFill>
            <a:srgbClr val="7A3DC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8897" y="4561027"/>
            <a:ext cx="241402" cy="241402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263646" y="4462272"/>
            <a:ext cx="438912" cy="438912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2401" y="4561027"/>
            <a:ext cx="241402" cy="241402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uk-UA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17</a:t>
            </a:r>
            <a:endParaRPr lang="en-US" sz="900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32079758-50C8-8CF6-60EC-C44CBC91131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1" b="-5257"/>
          <a:stretch/>
        </p:blipFill>
        <p:spPr>
          <a:xfrm>
            <a:off x="7791450" y="1463040"/>
            <a:ext cx="3071315" cy="404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72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1A2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5029200" cy="5029200"/>
          </a:xfrm>
          <a:prstGeom prst="ellipse">
            <a:avLst/>
          </a:prstGeom>
          <a:solidFill>
            <a:srgbClr val="3D1A6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30352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Висновки</a:t>
            </a:r>
            <a:endParaRPr lang="en-US" sz="2700" dirty="0"/>
          </a:p>
        </p:txBody>
      </p:sp>
      <p:sp>
        <p:nvSpPr>
          <p:cNvPr id="25" name="Shape 17"/>
          <p:cNvSpPr/>
          <p:nvPr/>
        </p:nvSpPr>
        <p:spPr>
          <a:xfrm>
            <a:off x="532714" y="2042312"/>
            <a:ext cx="365760" cy="365760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" y="2120359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89913" y="1881378"/>
            <a:ext cx="875416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динамічну багатопотокову систему тіней (LightActor / ShadowActor / Component)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532714" y="2792120"/>
            <a:ext cx="365760" cy="365760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" y="2870167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89913" y="2631186"/>
            <a:ext cx="875416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Побудовано поведінкову модель NPC із трьома станами та залежністю від освітлення</a:t>
            </a:r>
            <a:endParaRPr lang="en-US" sz="1600" dirty="0"/>
          </a:p>
        </p:txBody>
      </p:sp>
      <p:sp>
        <p:nvSpPr>
          <p:cNvPr id="31" name="Shape 21"/>
          <p:cNvSpPr/>
          <p:nvPr/>
        </p:nvSpPr>
        <p:spPr>
          <a:xfrm>
            <a:off x="532714" y="3541928"/>
            <a:ext cx="365760" cy="365760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" y="3619975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89913" y="3380994"/>
            <a:ext cx="875416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Створено систему вмінь гравця у двох категоріях взаємодії</a:t>
            </a:r>
            <a:endParaRPr lang="en-US" sz="1600" dirty="0"/>
          </a:p>
        </p:txBody>
      </p:sp>
      <p:sp>
        <p:nvSpPr>
          <p:cNvPr id="34" name="Shape 23"/>
          <p:cNvSpPr/>
          <p:nvPr/>
        </p:nvSpPr>
        <p:spPr>
          <a:xfrm>
            <a:off x="532714" y="4291736"/>
            <a:ext cx="365760" cy="365760"/>
          </a:xfrm>
          <a:prstGeom prst="ellipse">
            <a:avLst/>
          </a:prstGeom>
          <a:solidFill>
            <a:srgbClr val="6B2EFF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" y="4369783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989913" y="4130802"/>
            <a:ext cx="875416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тестування — 21 дефект задокументовано й виправлено</a:t>
            </a:r>
            <a:endParaRPr lang="en-US" sz="1600" dirty="0"/>
          </a:p>
        </p:txBody>
      </p:sp>
      <p:sp>
        <p:nvSpPr>
          <p:cNvPr id="37" name="Shape 25"/>
          <p:cNvSpPr/>
          <p:nvPr/>
        </p:nvSpPr>
        <p:spPr>
          <a:xfrm>
            <a:off x="532713" y="5257800"/>
            <a:ext cx="9564731" cy="0"/>
          </a:xfrm>
          <a:prstGeom prst="line">
            <a:avLst/>
          </a:prstGeom>
          <a:noFill/>
          <a:ln w="12700">
            <a:solidFill>
              <a:srgbClr val="5C4B6E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6136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1C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-2560320"/>
            <a:ext cx="6400800" cy="6400800"/>
          </a:xfrm>
          <a:prstGeom prst="ellipse">
            <a:avLst/>
          </a:prstGeom>
          <a:solidFill>
            <a:srgbClr val="3D1A6E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3291840"/>
            <a:ext cx="5943600" cy="5943600"/>
          </a:xfrm>
          <a:prstGeom prst="ellipse">
            <a:avLst/>
          </a:prstGeom>
          <a:solidFill>
            <a:srgbClr val="1E1A26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0" y="4206240"/>
            <a:ext cx="4023360" cy="4023360"/>
          </a:xfrm>
          <a:prstGeom prst="ellipse">
            <a:avLst/>
          </a:prstGeom>
          <a:solidFill>
            <a:srgbClr val="3D1A6E"/>
          </a:solidFill>
          <a:ln/>
        </p:spPr>
      </p:sp>
      <p:sp>
        <p:nvSpPr>
          <p:cNvPr id="6" name="Shape 4"/>
          <p:cNvSpPr/>
          <p:nvPr/>
        </p:nvSpPr>
        <p:spPr>
          <a:xfrm>
            <a:off x="5458968" y="1417320"/>
            <a:ext cx="1280160" cy="1280160"/>
          </a:xfrm>
          <a:prstGeom prst="ellipse">
            <a:avLst/>
          </a:prstGeom>
          <a:solidFill>
            <a:srgbClr val="3D1A6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004" y="1705356"/>
            <a:ext cx="704088" cy="704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F3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4633113" y="3840480"/>
            <a:ext cx="2926080" cy="0"/>
          </a:xfrm>
          <a:prstGeom prst="line">
            <a:avLst/>
          </a:prstGeom>
          <a:noFill/>
          <a:ln w="12700">
            <a:solidFill>
              <a:srgbClr val="5C4B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5" y="40233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9D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Душин Б. А.    ПЗПІ-22-10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064240" y="65105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545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1139</Words>
  <Application>Microsoft Office PowerPoint</Application>
  <PresentationFormat>Широкий екран</PresentationFormat>
  <Paragraphs>268</Paragraphs>
  <Slides>17</Slides>
  <Notes>17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Phantom Shade — презентація кваліфікаційної роботи</dc:title>
  <dc:subject/>
  <dc:creator>Душин Б.А.</dc:creator>
  <cp:lastModifiedBy>Bohdan Dushyn</cp:lastModifiedBy>
  <cp:revision>11</cp:revision>
  <dcterms:created xsi:type="dcterms:W3CDTF">2026-06-21T15:13:47Z</dcterms:created>
  <dcterms:modified xsi:type="dcterms:W3CDTF">2026-06-24T21:29:57Z</dcterms:modified>
</cp:coreProperties>
</file>